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20"/>
  </p:notesMasterIdLst>
  <p:sldIdLst>
    <p:sldId id="256" r:id="rId5"/>
    <p:sldId id="265" r:id="rId6"/>
    <p:sldId id="284" r:id="rId7"/>
    <p:sldId id="285" r:id="rId8"/>
    <p:sldId id="279" r:id="rId9"/>
    <p:sldId id="278" r:id="rId10"/>
    <p:sldId id="280" r:id="rId11"/>
    <p:sldId id="281" r:id="rId12"/>
    <p:sldId id="282" r:id="rId13"/>
    <p:sldId id="283" r:id="rId14"/>
    <p:sldId id="287" r:id="rId15"/>
    <p:sldId id="288" r:id="rId16"/>
    <p:sldId id="289" r:id="rId17"/>
    <p:sldId id="274" r:id="rId18"/>
    <p:sldId id="28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5"/>
            <p14:sldId id="284"/>
            <p14:sldId id="285"/>
            <p14:sldId id="279"/>
            <p14:sldId id="278"/>
            <p14:sldId id="280"/>
            <p14:sldId id="281"/>
            <p14:sldId id="282"/>
            <p14:sldId id="283"/>
            <p14:sldId id="287"/>
            <p14:sldId id="288"/>
            <p14:sldId id="289"/>
            <p14:sldId id="274"/>
            <p14:sldId id="286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026"/>
    <a:srgbClr val="000000"/>
    <a:srgbClr val="008000"/>
    <a:srgbClr val="D2B4A6"/>
    <a:srgbClr val="734F29"/>
    <a:srgbClr val="D24726"/>
    <a:srgbClr val="DD462F"/>
    <a:srgbClr val="AEB785"/>
    <a:srgbClr val="EFD5A2"/>
    <a:srgbClr val="ECE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8EDB7F-590F-4E8E-9139-575449CDECEA}" v="77" dt="2026-02-22T14:00:25.9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29600" cy="1296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84977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79898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3927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28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7941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37824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69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0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3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32842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8505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3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4294967295"/>
          </p:nvPr>
        </p:nvSpPr>
        <p:spPr>
          <a:xfrm>
            <a:off x="-2" y="199807"/>
            <a:ext cx="12192002" cy="161707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G. NARAYANAMMA INSTITUTE OF TECHNOLOGY &amp; SCIENCE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AUTONOMOUS(For Women)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Shaikpet, Hyderabad ,Telangana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1600" b="1" dirty="0">
              <a:latin typeface="Arial Black" panose="020B0A04020102020204" pitchFamily="34" charset="0"/>
            </a:endParaRPr>
          </a:p>
          <a:p>
            <a:endParaRPr lang="en-US" sz="1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idx="4294967295"/>
          </p:nvPr>
        </p:nvSpPr>
        <p:spPr>
          <a:xfrm>
            <a:off x="264000" y="4336200"/>
            <a:ext cx="4536000" cy="1555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Presented By: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Team Members:</a:t>
            </a:r>
            <a:br>
              <a:rPr lang="en-US" sz="1600" b="1" dirty="0">
                <a:solidFill>
                  <a:srgbClr val="00B0F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</a:t>
            </a:r>
            <a:r>
              <a:rPr lang="en-US" sz="1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Mukkara DivyaSree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24251A05M9</a:t>
            </a:r>
            <a:b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en-US" sz="1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Komatireddy Keerthana-24241A05L9</a:t>
            </a:r>
            <a:b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P. Sai Priya Reddy-24251A05R3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538484" y="2317897"/>
            <a:ext cx="4318590" cy="19032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465600" y="4341896"/>
            <a:ext cx="19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A. Sarada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&amp; Head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983" y="1816881"/>
            <a:ext cx="831466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Anomaly Detection for Wearable Data Using Autoencoders</a:t>
            </a:r>
            <a:endParaRPr lang="en-US" sz="20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t="-5651" r="-2039" b="-1"/>
          <a:stretch/>
        </p:blipFill>
        <p:spPr>
          <a:xfrm>
            <a:off x="221682" y="285085"/>
            <a:ext cx="1607301" cy="14591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88800" y="2951946"/>
            <a:ext cx="24566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No:D9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3250" y="1446213"/>
            <a:ext cx="11588750" cy="482758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3600" y="93021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549941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3600" y="137409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7639C3-3823-E22E-CE5B-AAD5FE33CBD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00566" y="1264272"/>
            <a:ext cx="5202001" cy="453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Topic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devices such as smartwatches and fitness trackers enable continuous monitoring of physiological and activity-based data including heart rate, sleep patterns, and motion signals. These devices generate large volumes of time-series health data.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Overview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belongs to the domain of: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Health Analytics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Computing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Deep Learning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Anomaly Detection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Faces the Problem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employees and corporate professionals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with sedentary lifestyles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exposed to stress and irregular sleep cycles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E3E42-2C54-0A92-83E5-5DB1CBE19216}"/>
              </a:ext>
            </a:extLst>
          </p:cNvPr>
          <p:cNvSpPr txBox="1"/>
          <p:nvPr/>
        </p:nvSpPr>
        <p:spPr>
          <a:xfrm>
            <a:off x="6596401" y="1291889"/>
            <a:ext cx="5202001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Must Be Solved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Sedentary behavior increases risk of cardiovascular diseases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rhythm disruption leads to stress and burnout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fitness apps do not intelligently detect abnormal patterns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Problem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prevents long-term health complications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corporate wellness programs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proactive health monitoring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System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lightweight, real-time anomaly detection system is required to: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abnormal physiological patterns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circadian rhythm disruptions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 efficiently on resource-constrained wearable devices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188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64000" y="2569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D34490-91EC-0C51-326E-9E356EB9B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157895"/>
              </p:ext>
            </p:extLst>
          </p:nvPr>
        </p:nvGraphicFramePr>
        <p:xfrm>
          <a:off x="393600" y="1096200"/>
          <a:ext cx="11210398" cy="5560530"/>
        </p:xfrm>
        <a:graphic>
          <a:graphicData uri="http://schemas.openxmlformats.org/drawingml/2006/table">
            <a:tbl>
              <a:tblPr/>
              <a:tblGrid>
                <a:gridCol w="1166400">
                  <a:extLst>
                    <a:ext uri="{9D8B030D-6E8A-4147-A177-3AD203B41FA5}">
                      <a16:colId xmlns:a16="http://schemas.microsoft.com/office/drawing/2014/main" val="3024017554"/>
                    </a:ext>
                  </a:extLst>
                </a:gridCol>
                <a:gridCol w="2394550">
                  <a:extLst>
                    <a:ext uri="{9D8B030D-6E8A-4147-A177-3AD203B41FA5}">
                      <a16:colId xmlns:a16="http://schemas.microsoft.com/office/drawing/2014/main" val="1263824718"/>
                    </a:ext>
                  </a:extLst>
                </a:gridCol>
                <a:gridCol w="1912362">
                  <a:extLst>
                    <a:ext uri="{9D8B030D-6E8A-4147-A177-3AD203B41FA5}">
                      <a16:colId xmlns:a16="http://schemas.microsoft.com/office/drawing/2014/main" val="3298417940"/>
                    </a:ext>
                  </a:extLst>
                </a:gridCol>
                <a:gridCol w="1912362">
                  <a:extLst>
                    <a:ext uri="{9D8B030D-6E8A-4147-A177-3AD203B41FA5}">
                      <a16:colId xmlns:a16="http://schemas.microsoft.com/office/drawing/2014/main" val="2017695869"/>
                    </a:ext>
                  </a:extLst>
                </a:gridCol>
                <a:gridCol w="1912362">
                  <a:extLst>
                    <a:ext uri="{9D8B030D-6E8A-4147-A177-3AD203B41FA5}">
                      <a16:colId xmlns:a16="http://schemas.microsoft.com/office/drawing/2014/main" val="654826064"/>
                    </a:ext>
                  </a:extLst>
                </a:gridCol>
                <a:gridCol w="1912362">
                  <a:extLst>
                    <a:ext uri="{9D8B030D-6E8A-4147-A177-3AD203B41FA5}">
                      <a16:colId xmlns:a16="http://schemas.microsoft.com/office/drawing/2014/main" val="2496540777"/>
                    </a:ext>
                  </a:extLst>
                </a:gridCol>
              </a:tblGrid>
              <a:tr h="771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Tittle</a:t>
                      </a:r>
                      <a:r>
                        <a:rPr lang="en-US" sz="1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Journal with 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</a:t>
                      </a:r>
                    </a:p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546366"/>
                  </a:ext>
                </a:extLst>
              </a:tr>
              <a:tr h="1054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Wearable Health Monitoring (2023)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+ Autoencoder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stress detection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788593"/>
                  </a:ext>
                </a:extLst>
              </a:tr>
              <a:tr h="1054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Anomaly Detection in IoT Healthcare (2022)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&amp; Singh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Autoencoder-based anomaly detection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anomaly detection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feature diversity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462532"/>
                  </a:ext>
                </a:extLst>
              </a:tr>
              <a:tr h="1054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Circadian Rhythm Monitoring Using Wearables (2021)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Lee et al.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Time-series analysis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sleep irregularities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deep learning integration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754161"/>
                  </a:ext>
                </a:extLst>
              </a:tr>
              <a:tr h="659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Accelerometer-Based Sedentary Detection (2020)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Smith et al.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Threshold-based classification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sedentary time detection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adaptive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270992"/>
                  </a:ext>
                </a:extLst>
              </a:tr>
              <a:tr h="85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Deep Learning Models for Edge Devices (2019)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&amp; Wang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Compact neural networks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computational overhead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model complexity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967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38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52800" y="1446213"/>
            <a:ext cx="4276800" cy="3537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 Description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wearable systems provide: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count tracking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 monitoring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duration display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raw sensor signals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summary statistics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basic alerts (e.g., step goals)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3600" y="12065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810AB-446C-EDA4-F593-258CC0E309DD}"/>
              </a:ext>
            </a:extLst>
          </p:cNvPr>
          <p:cNvSpPr txBox="1"/>
          <p:nvPr/>
        </p:nvSpPr>
        <p:spPr>
          <a:xfrm>
            <a:off x="6096000" y="1322381"/>
            <a:ext cx="4276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firmware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signal 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threshold systems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/ Challenges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intelligent anomaly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circadian disruption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personalized risk scoring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cost for complex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3116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3250" y="1446213"/>
            <a:ext cx="9639950" cy="159398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devices generate continuous physiological and activity data, but existing systems fail to intelligently detect subtle abnormalities in real time. Circadian rhythm disruptions and stress-related deviations often go unnoticed due to the lack of lightweight anomaly detection models suitable for wearable environments. Therefore, the problem is to develop an efficient autoencoder-based system that can learn normal patterns and identify unusual behavioral deviations from wearable data.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3600" y="18900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501256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3250" y="1446213"/>
            <a:ext cx="10985500" cy="4827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Idea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lightweight autoencoder model that learns normal wearable health patterns and detects abnormal behavior using reconstruction error.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Solves the Problem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normal physiological patterns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unusual deviations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circadian disruptions early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wearable deployment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Accelerometer-based sedentary detection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score computation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index calculation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deep learning model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Smartwatch-style visualization dashboard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3250" y="1890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3757192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3600" y="189000"/>
            <a:ext cx="10748963" cy="11223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AEDAC6-B6E5-72F0-AAC0-7D3FAC61DBE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93600" y="1265857"/>
            <a:ext cx="11409600" cy="152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system capable of processing at least 8000 wearable data records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autoencoder model achieving reliable anomaly detection using reconstruction error.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real-time evaluation with low computational overhead.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system performance using loss metrics and anomaly threshold validation.</a:t>
            </a:r>
          </a:p>
        </p:txBody>
      </p:sp>
    </p:spTree>
    <p:extLst>
      <p:ext uri="{BB962C8B-B14F-4D97-AF65-F5344CB8AC3E}">
        <p14:creationId xmlns:p14="http://schemas.microsoft.com/office/powerpoint/2010/main" val="84907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64000" y="92252"/>
            <a:ext cx="10748963" cy="11223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264000" y="1096200"/>
            <a:ext cx="5702400" cy="457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→ Data Preprocessing → Feature Engineering → Autoencoder Training → Reconstruction Error Calculation → Anomaly Detection → Dashboard Visualization → Performance Evaluation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of Project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Normalization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Autoencoder Model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Dashboard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E11EA-B7D1-8267-695E-9C0DA7639D73}"/>
              </a:ext>
            </a:extLst>
          </p:cNvPr>
          <p:cNvSpPr txBox="1"/>
          <p:nvPr/>
        </p:nvSpPr>
        <p:spPr>
          <a:xfrm>
            <a:off x="6488058" y="1096200"/>
            <a:ext cx="4528162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Explanation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wearable data (accelerometer, HR, sleep, steps)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and clean signals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derived features (sedentary minutes, stress score)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autoencoder on normal data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anomalies using reconstruction error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in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174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3600" y="189000"/>
            <a:ext cx="10748963" cy="11223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88A6B1-971C-02D2-7D5D-2117644EE00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2800" y="1096200"/>
            <a:ext cx="2235233" cy="3002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Keras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</p:txBody>
      </p:sp>
    </p:spTree>
    <p:extLst>
      <p:ext uri="{BB962C8B-B14F-4D97-AF65-F5344CB8AC3E}">
        <p14:creationId xmlns:p14="http://schemas.microsoft.com/office/powerpoint/2010/main" val="1242481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4294967295"/>
          </p:nvPr>
        </p:nvSpPr>
        <p:spPr bwMode="auto">
          <a:xfrm>
            <a:off x="523200" y="1485000"/>
            <a:ext cx="7776000" cy="4917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800" b="1" dirty="0"/>
              <a:t>Output Screenshots</a:t>
            </a:r>
          </a:p>
          <a:p>
            <a:r>
              <a:rPr lang="en-IN" sz="1600" dirty="0"/>
              <a:t>Autoencoder training loss graph</a:t>
            </a:r>
          </a:p>
          <a:p>
            <a:r>
              <a:rPr lang="en-IN" sz="1600" dirty="0"/>
              <a:t>Reconstruction error distribution</a:t>
            </a:r>
          </a:p>
          <a:p>
            <a:r>
              <a:rPr lang="en-IN" sz="1600" dirty="0"/>
              <a:t>Smartwatch-style dashboard</a:t>
            </a:r>
          </a:p>
          <a:p>
            <a:r>
              <a:rPr lang="en-IN" sz="1600" dirty="0"/>
              <a:t>Stress &amp; Sedentary score visualization</a:t>
            </a:r>
          </a:p>
          <a:p>
            <a:pPr marL="0" indent="0">
              <a:buNone/>
            </a:pPr>
            <a:r>
              <a:rPr lang="en-IN" sz="1800" b="1" dirty="0"/>
              <a:t>Performance Metrics</a:t>
            </a:r>
          </a:p>
          <a:p>
            <a:r>
              <a:rPr lang="en-IN" sz="1600" dirty="0"/>
              <a:t>Reconstruction Loss (MSE)</a:t>
            </a:r>
          </a:p>
          <a:p>
            <a:r>
              <a:rPr lang="en-IN" sz="1600" dirty="0"/>
              <a:t>Anomaly Detection Rate</a:t>
            </a:r>
          </a:p>
          <a:p>
            <a:r>
              <a:rPr lang="en-IN" sz="1600" dirty="0"/>
              <a:t>Computational Efficiency</a:t>
            </a:r>
          </a:p>
          <a:p>
            <a:r>
              <a:rPr lang="en-IN" sz="1600" dirty="0"/>
              <a:t>Model Training Time</a:t>
            </a:r>
          </a:p>
          <a:p>
            <a:pPr marL="0" indent="0">
              <a:buNone/>
            </a:pPr>
            <a:r>
              <a:rPr lang="en-IN" sz="1800" b="1" dirty="0"/>
              <a:t>Observations</a:t>
            </a:r>
          </a:p>
          <a:p>
            <a:r>
              <a:rPr lang="en-IN" sz="1600" dirty="0"/>
              <a:t>Lightweight model performs efficiently</a:t>
            </a:r>
          </a:p>
          <a:p>
            <a:r>
              <a:rPr lang="en-IN" sz="1600" dirty="0"/>
              <a:t>Reconstruction error successfully identifies abnormal patterns</a:t>
            </a:r>
          </a:p>
          <a:p>
            <a:r>
              <a:rPr lang="en-IN" sz="1600" dirty="0"/>
              <a:t>Suitable for real-time wearable analytics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3200" y="3186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39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8EB89C-2EFD-D660-E22D-2628F1C2D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40" y="160628"/>
            <a:ext cx="5828160" cy="4020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B4E061-F7C1-E3D9-1357-786FE511F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50562"/>
            <a:ext cx="5974320" cy="4121834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41FFDAE7-D9FB-393A-734B-612805A51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4400" y="261612"/>
            <a:ext cx="5577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Displays the main dashboard where users upload wearable data and select an analysis date.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Provides a quick summary of total sleep debt over the last 7 days for instant insights .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C8BA59C-E0D0-0A01-CAAB-BC2D46DAD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40" y="4328649"/>
            <a:ext cx="543936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Displays detailed sleep patterns alongside a 7-day sleep debt distribution.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users identify which days contributed most to overall sleep debt. </a:t>
            </a:r>
          </a:p>
        </p:txBody>
      </p:sp>
    </p:spTree>
    <p:extLst>
      <p:ext uri="{BB962C8B-B14F-4D97-AF65-F5344CB8AC3E}">
        <p14:creationId xmlns:p14="http://schemas.microsoft.com/office/powerpoint/2010/main" val="396854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1A3A96-191D-074F-5187-02F190094D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80" y="318600"/>
            <a:ext cx="5572800" cy="3558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3350D6-0E59-22B9-8F42-3479CBB03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680" y="2781000"/>
            <a:ext cx="6165360" cy="381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95FE44-40C8-41A5-7448-24CA11F5D64D}"/>
              </a:ext>
            </a:extLst>
          </p:cNvPr>
          <p:cNvSpPr txBox="1"/>
          <p:nvPr/>
        </p:nvSpPr>
        <p:spPr>
          <a:xfrm>
            <a:off x="6225600" y="966600"/>
            <a:ext cx="557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Illustrates sleep drift patterns indicating irregular sleep timing </a:t>
            </a:r>
            <a:r>
              <a:rPr lang="en-IN" dirty="0" err="1"/>
              <a:t>behavior</a:t>
            </a:r>
            <a:r>
              <a:rPr lang="en-IN" dirty="0"/>
              <a:t>. </a:t>
            </a:r>
          </a:p>
          <a:p>
            <a:r>
              <a:rPr lang="en-IN" dirty="0"/>
              <a:t>Detects anomalies using data points to identify unusual sleep disturbances. 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C4E5C0-E995-AD7C-BD15-2D67541FF731}"/>
              </a:ext>
            </a:extLst>
          </p:cNvPr>
          <p:cNvSpPr txBox="1"/>
          <p:nvPr/>
        </p:nvSpPr>
        <p:spPr>
          <a:xfrm>
            <a:off x="165680" y="4465800"/>
            <a:ext cx="52823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Visualizes sleep trends and highlights fluctuations across multiple days. </a:t>
            </a:r>
          </a:p>
          <a:p>
            <a:r>
              <a:rPr lang="en-US" dirty="0"/>
              <a:t>Provides a recovery plan to help users improve sleep consistency and reduce debt.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910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93090" y="3186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91349" y="1485000"/>
            <a:ext cx="10809302" cy="1525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Goodfellow I., Bengio Y., Courville A., Deep Learning, First Edition, MIT Press, 2016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Aggarwal C. C., Neural Networks and Deep Learning, Springer, 2018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Bishop C. M., Pattern Recognition and Machine Learning, Springer, 2006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Szeliski R., Computer Vision: Algorithms and Applications, Springer, 2011</a:t>
            </a:r>
          </a:p>
        </p:txBody>
      </p:sp>
    </p:spTree>
    <p:extLst>
      <p:ext uri="{BB962C8B-B14F-4D97-AF65-F5344CB8AC3E}">
        <p14:creationId xmlns:p14="http://schemas.microsoft.com/office/powerpoint/2010/main" val="549941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019550" y="2243138"/>
            <a:ext cx="8172450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805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B970C04F-E7AC-41AB-9C6D-1B1BB88BFF7F}">
  <ds:schemaRefs>
    <ds:schemaRef ds:uri="4873beb7-5857-4685-be1f-d57550cc96cc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636</TotalTime>
  <Words>945</Words>
  <Application>Microsoft Office PowerPoint</Application>
  <PresentationFormat>Widescreen</PresentationFormat>
  <Paragraphs>183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Presented By: Team Members: 1. Mukkara DivyaSree-24251A05M9 2. Komatireddy Keerthana-24241A05L9 3. P. Sai Priya Reddy-24251A05R3</vt:lpstr>
      <vt:lpstr>Table of Contents</vt:lpstr>
      <vt:lpstr>Introduction</vt:lpstr>
      <vt:lpstr>Literature Survey</vt:lpstr>
      <vt:lpstr>Existing system</vt:lpstr>
      <vt:lpstr>Problem statement</vt:lpstr>
      <vt:lpstr>Proposed system</vt:lpstr>
      <vt:lpstr>Objectives</vt:lpstr>
      <vt:lpstr>Methodology</vt:lpstr>
      <vt:lpstr>Technologies</vt:lpstr>
      <vt:lpstr>Results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Designation  Affiliation Email ID</dc:title>
  <dc:creator>Microsoft account</dc:creator>
  <cp:lastModifiedBy>Sai Priya Reddy Poreddy</cp:lastModifiedBy>
  <cp:revision>51</cp:revision>
  <dcterms:created xsi:type="dcterms:W3CDTF">2022-09-27T04:56:00Z</dcterms:created>
  <dcterms:modified xsi:type="dcterms:W3CDTF">2026-04-02T07:02:34Z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